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Garet Bold" charset="1" panose="00000000000000000000"/>
      <p:regular r:id="rId10"/>
    </p:embeddedFont>
    <p:embeddedFont>
      <p:font typeface="Helvetica World" charset="1" panose="020B0500040000020004"/>
      <p:regular r:id="rId11"/>
    </p:embeddedFont>
    <p:embeddedFont>
      <p:font typeface="Helvetica World Bold" charset="1" panose="020B08000400000200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524220" y="0"/>
            <a:ext cx="22854627" cy="12855727"/>
            <a:chOff x="0" y="0"/>
            <a:chExt cx="24361444" cy="137033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61394" cy="13703300"/>
            </a:xfrm>
            <a:custGeom>
              <a:avLst/>
              <a:gdLst/>
              <a:ahLst/>
              <a:cxnLst/>
              <a:rect r="r" b="b" t="t" l="l"/>
              <a:pathLst>
                <a:path h="13703300" w="24361394">
                  <a:moveTo>
                    <a:pt x="0" y="0"/>
                  </a:moveTo>
                  <a:lnTo>
                    <a:pt x="24361394" y="0"/>
                  </a:lnTo>
                  <a:lnTo>
                    <a:pt x="24361394" y="13703300"/>
                  </a:lnTo>
                  <a:lnTo>
                    <a:pt x="0" y="1370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13991" y="1029819"/>
            <a:ext cx="15260017" cy="110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79"/>
              </a:lnSpc>
            </a:pPr>
            <a:r>
              <a:rPr lang="en-US" b="true" sz="7799" spc="-194">
                <a:solidFill>
                  <a:srgbClr val="2F4F4F"/>
                </a:solidFill>
                <a:latin typeface="Garet Bold"/>
                <a:ea typeface="Garet Bold"/>
                <a:cs typeface="Garet Bold"/>
                <a:sym typeface="Garet Bold"/>
              </a:rPr>
              <a:t>Repositorios Transversales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322788"/>
            <a:ext cx="15836827" cy="2899196"/>
            <a:chOff x="0" y="0"/>
            <a:chExt cx="19899048" cy="3642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99049" cy="3642854"/>
            </a:xfrm>
            <a:custGeom>
              <a:avLst/>
              <a:gdLst/>
              <a:ahLst/>
              <a:cxnLst/>
              <a:rect r="r" b="b" t="t" l="l"/>
              <a:pathLst>
                <a:path h="3642854" w="19899049">
                  <a:moveTo>
                    <a:pt x="0" y="187966"/>
                  </a:moveTo>
                  <a:cubicBezTo>
                    <a:pt x="0" y="84116"/>
                    <a:pt x="61344" y="0"/>
                    <a:pt x="137080" y="0"/>
                  </a:cubicBezTo>
                  <a:lnTo>
                    <a:pt x="19761969" y="0"/>
                  </a:lnTo>
                  <a:cubicBezTo>
                    <a:pt x="19837705" y="0"/>
                    <a:pt x="19899049" y="84116"/>
                    <a:pt x="19899049" y="187966"/>
                  </a:cubicBezTo>
                  <a:lnTo>
                    <a:pt x="19899049" y="3454888"/>
                  </a:lnTo>
                  <a:cubicBezTo>
                    <a:pt x="19899049" y="3558738"/>
                    <a:pt x="19837705" y="3642854"/>
                    <a:pt x="19761969" y="3642854"/>
                  </a:cubicBezTo>
                  <a:lnTo>
                    <a:pt x="137080" y="3642854"/>
                  </a:lnTo>
                  <a:cubicBezTo>
                    <a:pt x="61344" y="3642854"/>
                    <a:pt x="0" y="3558738"/>
                    <a:pt x="0" y="3454888"/>
                  </a:cubicBezTo>
                  <a:close/>
                </a:path>
              </a:pathLst>
            </a:custGeom>
            <a:solidFill>
              <a:srgbClr val="FEFEFE"/>
            </a:solidFill>
            <a:ln w="19050" cap="sq">
              <a:solidFill>
                <a:srgbClr val="7F8C8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29398" y="2591364"/>
            <a:ext cx="7277330" cy="209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59"/>
              </a:lnSpc>
            </a:pP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ontienen componentes o herramientas compartidas por varios dominios o microservicios de u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proyecto y no representan una funcionalidad.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9398" y="5458234"/>
            <a:ext cx="7551649" cy="63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9"/>
              </a:lnSpc>
            </a:pPr>
            <a:r>
              <a:rPr lang="en-US" b="true" sz="4499" spc="-112">
                <a:solidFill>
                  <a:srgbClr val="2F4F4F"/>
                </a:solidFill>
                <a:latin typeface="Garet Bold"/>
                <a:ea typeface="Garet Bold"/>
                <a:cs typeface="Garet Bold"/>
                <a:sym typeface="Garet Bold"/>
              </a:rPr>
              <a:t>Dominio vs Transversal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284250"/>
            <a:ext cx="15836827" cy="3590320"/>
            <a:chOff x="0" y="0"/>
            <a:chExt cx="19899048" cy="45112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99049" cy="4511254"/>
            </a:xfrm>
            <a:custGeom>
              <a:avLst/>
              <a:gdLst/>
              <a:ahLst/>
              <a:cxnLst/>
              <a:rect r="r" b="b" t="t" l="l"/>
              <a:pathLst>
                <a:path h="4511254" w="19899049">
                  <a:moveTo>
                    <a:pt x="0" y="232774"/>
                  </a:moveTo>
                  <a:cubicBezTo>
                    <a:pt x="0" y="104168"/>
                    <a:pt x="61344" y="0"/>
                    <a:pt x="137080" y="0"/>
                  </a:cubicBezTo>
                  <a:lnTo>
                    <a:pt x="19761969" y="0"/>
                  </a:lnTo>
                  <a:cubicBezTo>
                    <a:pt x="19837705" y="0"/>
                    <a:pt x="19899049" y="104168"/>
                    <a:pt x="19899049" y="232774"/>
                  </a:cubicBezTo>
                  <a:lnTo>
                    <a:pt x="19899049" y="4278480"/>
                  </a:lnTo>
                  <a:cubicBezTo>
                    <a:pt x="19899049" y="4407087"/>
                    <a:pt x="19837705" y="4511254"/>
                    <a:pt x="19761969" y="4511254"/>
                  </a:cubicBezTo>
                  <a:lnTo>
                    <a:pt x="137080" y="4511254"/>
                  </a:lnTo>
                  <a:cubicBezTo>
                    <a:pt x="61344" y="4511254"/>
                    <a:pt x="0" y="4407087"/>
                    <a:pt x="0" y="4278480"/>
                  </a:cubicBezTo>
                  <a:close/>
                </a:path>
              </a:pathLst>
            </a:custGeom>
            <a:solidFill>
              <a:srgbClr val="FEFEFE"/>
            </a:solidFill>
            <a:ln w="19050" cap="sq">
              <a:solidFill>
                <a:srgbClr val="7F8C8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56284" y="6361189"/>
            <a:ext cx="7277330" cy="156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59"/>
              </a:lnSpc>
            </a:pP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 repositorio de dominio tiene sus propias reglas y lenguaje, mientras que el transversal es infraestructura compartida.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33726" y="2591364"/>
            <a:ext cx="7277330" cy="209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59"/>
              </a:lnSpc>
            </a:pP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 función es proporcionar servicios técnicos, infraestructura o procesos que pueden ser utilizados por difere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ntes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partes del sistema.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60612" y="6361189"/>
            <a:ext cx="7277330" cy="165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1484" indent="-320742" lvl="1">
              <a:lnSpc>
                <a:spcPts val="4159"/>
              </a:lnSpc>
              <a:buFont typeface="Arial"/>
              <a:buChar char="•"/>
            </a:pPr>
            <a:r>
              <a:rPr lang="en-US" b="true" sz="2971">
                <a:solidFill>
                  <a:srgbClr val="7F8C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  <a:r>
              <a:rPr lang="en-US" b="true" sz="2971">
                <a:solidFill>
                  <a:srgbClr val="7F8C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ominio 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= qué hace el negocio.</a:t>
            </a:r>
          </a:p>
          <a:p>
            <a:pPr algn="just" marL="641484" indent="-320742" lvl="1">
              <a:lnSpc>
                <a:spcPts val="4159"/>
              </a:lnSpc>
              <a:buFont typeface="Arial"/>
              <a:buChar char="•"/>
            </a:pPr>
            <a:r>
              <a:rPr lang="en-US" b="true" sz="2971">
                <a:solidFill>
                  <a:srgbClr val="7F8C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Transversal 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= qué necesitan varios dominios para funcionar.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56284" y="8275839"/>
            <a:ext cx="15181658" cy="1280031"/>
            <a:chOff x="0" y="0"/>
            <a:chExt cx="19075826" cy="16083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75826" cy="1608366"/>
            </a:xfrm>
            <a:custGeom>
              <a:avLst/>
              <a:gdLst/>
              <a:ahLst/>
              <a:cxnLst/>
              <a:rect r="r" b="b" t="t" l="l"/>
              <a:pathLst>
                <a:path h="1608366" w="19075826">
                  <a:moveTo>
                    <a:pt x="0" y="82989"/>
                  </a:moveTo>
                  <a:cubicBezTo>
                    <a:pt x="0" y="37138"/>
                    <a:pt x="58806" y="0"/>
                    <a:pt x="131409" y="0"/>
                  </a:cubicBezTo>
                  <a:lnTo>
                    <a:pt x="18944417" y="0"/>
                  </a:lnTo>
                  <a:cubicBezTo>
                    <a:pt x="19017021" y="0"/>
                    <a:pt x="19075826" y="37138"/>
                    <a:pt x="19075826" y="82989"/>
                  </a:cubicBezTo>
                  <a:lnTo>
                    <a:pt x="19075826" y="1525376"/>
                  </a:lnTo>
                  <a:cubicBezTo>
                    <a:pt x="19075826" y="1571228"/>
                    <a:pt x="19017021" y="1608366"/>
                    <a:pt x="18944417" y="1608366"/>
                  </a:cubicBezTo>
                  <a:lnTo>
                    <a:pt x="131409" y="1608366"/>
                  </a:lnTo>
                  <a:cubicBezTo>
                    <a:pt x="58806" y="1608366"/>
                    <a:pt x="0" y="1571228"/>
                    <a:pt x="0" y="1525376"/>
                  </a:cubicBez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7F8C8D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632758" y="8338868"/>
            <a:ext cx="14628711" cy="1087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59"/>
              </a:lnSpc>
            </a:pPr>
            <a:r>
              <a:rPr lang="en-US" b="true" sz="2971">
                <a:solidFill>
                  <a:srgbClr val="7F8C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Por</a:t>
            </a:r>
            <a:r>
              <a:rPr lang="en-US" b="true" sz="2971">
                <a:solidFill>
                  <a:srgbClr val="7F8C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ejemplo: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"registrar una venta" pertenece al dominio de Ventas. En cambio, "recibir y dirigir peticiones HTTP" es responsabilidad de un API Gateway.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524220" y="0"/>
            <a:ext cx="22854627" cy="12855727"/>
            <a:chOff x="0" y="0"/>
            <a:chExt cx="24361444" cy="137033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61394" cy="13703300"/>
            </a:xfrm>
            <a:custGeom>
              <a:avLst/>
              <a:gdLst/>
              <a:ahLst/>
              <a:cxnLst/>
              <a:rect r="r" b="b" t="t" l="l"/>
              <a:pathLst>
                <a:path h="13703300" w="24361394">
                  <a:moveTo>
                    <a:pt x="0" y="0"/>
                  </a:moveTo>
                  <a:lnTo>
                    <a:pt x="24361394" y="0"/>
                  </a:lnTo>
                  <a:lnTo>
                    <a:pt x="24361394" y="13703300"/>
                  </a:lnTo>
                  <a:lnTo>
                    <a:pt x="0" y="1370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64513" y="5253287"/>
            <a:ext cx="1008510" cy="919848"/>
            <a:chOff x="0" y="0"/>
            <a:chExt cx="897824" cy="8188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97824" cy="818893"/>
            </a:xfrm>
            <a:custGeom>
              <a:avLst/>
              <a:gdLst/>
              <a:ahLst/>
              <a:cxnLst/>
              <a:rect r="r" b="b" t="t" l="l"/>
              <a:pathLst>
                <a:path h="818893" w="897824">
                  <a:moveTo>
                    <a:pt x="448912" y="0"/>
                  </a:moveTo>
                  <a:cubicBezTo>
                    <a:pt x="200985" y="0"/>
                    <a:pt x="0" y="183316"/>
                    <a:pt x="0" y="409447"/>
                  </a:cubicBezTo>
                  <a:cubicBezTo>
                    <a:pt x="0" y="635578"/>
                    <a:pt x="200985" y="818893"/>
                    <a:pt x="448912" y="818893"/>
                  </a:cubicBezTo>
                  <a:cubicBezTo>
                    <a:pt x="696839" y="818893"/>
                    <a:pt x="897824" y="635578"/>
                    <a:pt x="897824" y="409447"/>
                  </a:cubicBezTo>
                  <a:cubicBezTo>
                    <a:pt x="897824" y="183316"/>
                    <a:pt x="696839" y="0"/>
                    <a:pt x="448912" y="0"/>
                  </a:cubicBezTo>
                  <a:close/>
                </a:path>
              </a:pathLst>
            </a:custGeom>
            <a:solidFill>
              <a:srgbClr val="1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84171" y="19621"/>
              <a:ext cx="729482" cy="722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47675" y="3634740"/>
            <a:ext cx="6540538" cy="308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5"/>
              </a:lnSpc>
            </a:pPr>
            <a:r>
              <a:rPr lang="en-US" b="true" sz="7350" spc="-183">
                <a:solidFill>
                  <a:srgbClr val="2F4F4F"/>
                </a:solidFill>
                <a:latin typeface="Garet Bold"/>
                <a:ea typeface="Garet Bold"/>
                <a:cs typeface="Garet Bold"/>
                <a:sym typeface="Garet Bold"/>
              </a:rPr>
              <a:t>Los 4 Repositorios Transversales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25804" y="5245694"/>
            <a:ext cx="7954393" cy="1978552"/>
            <a:chOff x="0" y="0"/>
            <a:chExt cx="10605857" cy="263806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10605857" cy="637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b="true" sz="2687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Worker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99444"/>
              <a:ext cx="10605857" cy="1838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sz="2687">
                  <a:solidFill>
                    <a:srgbClr val="7F8C8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 tareas en segundo plano, como notificaciones y reportes, garantizando una experiencia de usuario fluida y sin interrupciones.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64513" y="3058817"/>
            <a:ext cx="1008510" cy="919848"/>
            <a:chOff x="0" y="0"/>
            <a:chExt cx="897824" cy="8188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7824" cy="818893"/>
            </a:xfrm>
            <a:custGeom>
              <a:avLst/>
              <a:gdLst/>
              <a:ahLst/>
              <a:cxnLst/>
              <a:rect r="r" b="b" t="t" l="l"/>
              <a:pathLst>
                <a:path h="818893" w="897824">
                  <a:moveTo>
                    <a:pt x="448912" y="0"/>
                  </a:moveTo>
                  <a:cubicBezTo>
                    <a:pt x="200985" y="0"/>
                    <a:pt x="0" y="183316"/>
                    <a:pt x="0" y="409447"/>
                  </a:cubicBezTo>
                  <a:cubicBezTo>
                    <a:pt x="0" y="635578"/>
                    <a:pt x="200985" y="818893"/>
                    <a:pt x="448912" y="818893"/>
                  </a:cubicBezTo>
                  <a:cubicBezTo>
                    <a:pt x="696839" y="818893"/>
                    <a:pt x="897824" y="635578"/>
                    <a:pt x="897824" y="409447"/>
                  </a:cubicBezTo>
                  <a:cubicBezTo>
                    <a:pt x="897824" y="183316"/>
                    <a:pt x="696839" y="0"/>
                    <a:pt x="448912" y="0"/>
                  </a:cubicBezTo>
                  <a:close/>
                </a:path>
              </a:pathLst>
            </a:custGeom>
            <a:solidFill>
              <a:srgbClr val="1838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84171" y="19621"/>
              <a:ext cx="729482" cy="722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5804" y="3067117"/>
            <a:ext cx="7954393" cy="1978552"/>
            <a:chOff x="0" y="0"/>
            <a:chExt cx="10605857" cy="263806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10605857" cy="637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b="true" sz="2687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API Gateway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99444"/>
              <a:ext cx="10605857" cy="1838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sz="2687">
                  <a:solidFill>
                    <a:srgbClr val="7F8C8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 la p</a:t>
              </a:r>
              <a:r>
                <a:rPr lang="en-US" sz="2687">
                  <a:solidFill>
                    <a:srgbClr val="7F8C8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uerta de entrada al sistema. Recibe las peticiones del frontend y las dirige al microservicio correspondiente.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64513" y="884177"/>
            <a:ext cx="1008510" cy="919848"/>
            <a:chOff x="0" y="0"/>
            <a:chExt cx="897824" cy="8188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7824" cy="818893"/>
            </a:xfrm>
            <a:custGeom>
              <a:avLst/>
              <a:gdLst/>
              <a:ahLst/>
              <a:cxnLst/>
              <a:rect r="r" b="b" t="t" l="l"/>
              <a:pathLst>
                <a:path h="818893" w="897824">
                  <a:moveTo>
                    <a:pt x="448912" y="0"/>
                  </a:moveTo>
                  <a:cubicBezTo>
                    <a:pt x="200985" y="0"/>
                    <a:pt x="0" y="183316"/>
                    <a:pt x="0" y="409447"/>
                  </a:cubicBezTo>
                  <a:cubicBezTo>
                    <a:pt x="0" y="635578"/>
                    <a:pt x="200985" y="818893"/>
                    <a:pt x="448912" y="818893"/>
                  </a:cubicBezTo>
                  <a:cubicBezTo>
                    <a:pt x="696839" y="818893"/>
                    <a:pt x="897824" y="635578"/>
                    <a:pt x="897824" y="409447"/>
                  </a:cubicBezTo>
                  <a:cubicBezTo>
                    <a:pt x="897824" y="183316"/>
                    <a:pt x="696839" y="0"/>
                    <a:pt x="448912" y="0"/>
                  </a:cubicBezTo>
                  <a:close/>
                </a:path>
              </a:pathLst>
            </a:custGeom>
            <a:solidFill>
              <a:srgbClr val="18383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84171" y="19621"/>
              <a:ext cx="729482" cy="722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25804" y="892477"/>
            <a:ext cx="7954393" cy="1978552"/>
            <a:chOff x="0" y="0"/>
            <a:chExt cx="10605857" cy="263806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57150"/>
              <a:ext cx="10605857" cy="637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b="true" sz="2687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Infraestructura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799444"/>
              <a:ext cx="10605857" cy="1838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sz="2687">
                  <a:solidFill>
                    <a:srgbClr val="7F8C8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687">
                  <a:solidFill>
                    <a:srgbClr val="7F8C8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ontiene la configuración de infraestructura compartida, como la base de datos única, Docker, redes, variables de entorno, etc.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089185" y="1086929"/>
            <a:ext cx="559166" cy="49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678">
                <a:solidFill>
                  <a:srgbClr val="F5F5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89185" y="3263815"/>
            <a:ext cx="559166" cy="49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678">
                <a:solidFill>
                  <a:srgbClr val="F5F5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89185" y="5448663"/>
            <a:ext cx="559166" cy="49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678">
                <a:solidFill>
                  <a:srgbClr val="F5F5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864513" y="7424271"/>
            <a:ext cx="1008510" cy="919848"/>
            <a:chOff x="0" y="0"/>
            <a:chExt cx="897824" cy="8188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7824" cy="818893"/>
            </a:xfrm>
            <a:custGeom>
              <a:avLst/>
              <a:gdLst/>
              <a:ahLst/>
              <a:cxnLst/>
              <a:rect r="r" b="b" t="t" l="l"/>
              <a:pathLst>
                <a:path h="818893" w="897824">
                  <a:moveTo>
                    <a:pt x="448912" y="0"/>
                  </a:moveTo>
                  <a:cubicBezTo>
                    <a:pt x="200985" y="0"/>
                    <a:pt x="0" y="183316"/>
                    <a:pt x="0" y="409447"/>
                  </a:cubicBezTo>
                  <a:cubicBezTo>
                    <a:pt x="0" y="635578"/>
                    <a:pt x="200985" y="818893"/>
                    <a:pt x="448912" y="818893"/>
                  </a:cubicBezTo>
                  <a:cubicBezTo>
                    <a:pt x="696839" y="818893"/>
                    <a:pt x="897824" y="635578"/>
                    <a:pt x="897824" y="409447"/>
                  </a:cubicBezTo>
                  <a:cubicBezTo>
                    <a:pt x="897824" y="183316"/>
                    <a:pt x="696839" y="0"/>
                    <a:pt x="448912" y="0"/>
                  </a:cubicBezTo>
                  <a:close/>
                </a:path>
              </a:pathLst>
            </a:custGeom>
            <a:solidFill>
              <a:srgbClr val="18383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84171" y="19621"/>
              <a:ext cx="729482" cy="722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29383" y="7424271"/>
            <a:ext cx="7954393" cy="1978552"/>
            <a:chOff x="0" y="0"/>
            <a:chExt cx="10605857" cy="2638069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57150"/>
              <a:ext cx="10605857" cy="637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b="true" sz="2687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Workflow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799444"/>
              <a:ext cx="10605857" cy="1838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sz="2687">
                  <a:solidFill>
                    <a:srgbClr val="7F8C8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687">
                  <a:solidFill>
                    <a:srgbClr val="7F8C8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ontiene las herramientas y configuraciones para automatizar procesos. Ejemplo: CI/CD, pruebas, builds, despliegues y otras tareas repetitivas.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089185" y="7619646"/>
            <a:ext cx="559166" cy="49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678">
                <a:solidFill>
                  <a:srgbClr val="F5F5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524220" y="0"/>
            <a:ext cx="22854627" cy="12855727"/>
            <a:chOff x="0" y="0"/>
            <a:chExt cx="24361444" cy="137033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61394" cy="13703300"/>
            </a:xfrm>
            <a:custGeom>
              <a:avLst/>
              <a:gdLst/>
              <a:ahLst/>
              <a:cxnLst/>
              <a:rect r="r" b="b" t="t" l="l"/>
              <a:pathLst>
                <a:path h="13703300" w="24361394">
                  <a:moveTo>
                    <a:pt x="0" y="0"/>
                  </a:moveTo>
                  <a:lnTo>
                    <a:pt x="24361394" y="0"/>
                  </a:lnTo>
                  <a:lnTo>
                    <a:pt x="24361394" y="13703300"/>
                  </a:lnTo>
                  <a:lnTo>
                    <a:pt x="0" y="1370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13991" y="1029819"/>
            <a:ext cx="15260017" cy="110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79"/>
              </a:lnSpc>
            </a:pPr>
            <a:r>
              <a:rPr lang="en-US" b="true" sz="7799" spc="-194">
                <a:solidFill>
                  <a:srgbClr val="2F4F4F"/>
                </a:solidFill>
                <a:latin typeface="Garet Bold"/>
                <a:ea typeface="Garet Bold"/>
                <a:cs typeface="Garet Bold"/>
                <a:sym typeface="Garet Bold"/>
              </a:rPr>
              <a:t>Repositorios Transversales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322788"/>
            <a:ext cx="15836827" cy="2899196"/>
            <a:chOff x="0" y="0"/>
            <a:chExt cx="19899048" cy="36428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99049" cy="3642854"/>
            </a:xfrm>
            <a:custGeom>
              <a:avLst/>
              <a:gdLst/>
              <a:ahLst/>
              <a:cxnLst/>
              <a:rect r="r" b="b" t="t" l="l"/>
              <a:pathLst>
                <a:path h="3642854" w="19899049">
                  <a:moveTo>
                    <a:pt x="0" y="187966"/>
                  </a:moveTo>
                  <a:cubicBezTo>
                    <a:pt x="0" y="84116"/>
                    <a:pt x="61344" y="0"/>
                    <a:pt x="137080" y="0"/>
                  </a:cubicBezTo>
                  <a:lnTo>
                    <a:pt x="19761969" y="0"/>
                  </a:lnTo>
                  <a:cubicBezTo>
                    <a:pt x="19837705" y="0"/>
                    <a:pt x="19899049" y="84116"/>
                    <a:pt x="19899049" y="187966"/>
                  </a:cubicBezTo>
                  <a:lnTo>
                    <a:pt x="19899049" y="3454888"/>
                  </a:lnTo>
                  <a:cubicBezTo>
                    <a:pt x="19899049" y="3558738"/>
                    <a:pt x="19837705" y="3642854"/>
                    <a:pt x="19761969" y="3642854"/>
                  </a:cubicBezTo>
                  <a:lnTo>
                    <a:pt x="137080" y="3642854"/>
                  </a:lnTo>
                  <a:cubicBezTo>
                    <a:pt x="61344" y="3642854"/>
                    <a:pt x="0" y="3558738"/>
                    <a:pt x="0" y="3454888"/>
                  </a:cubicBezTo>
                  <a:close/>
                </a:path>
              </a:pathLst>
            </a:custGeom>
            <a:solidFill>
              <a:srgbClr val="FEFEFE"/>
            </a:solidFill>
            <a:ln w="19050" cap="sq">
              <a:solidFill>
                <a:srgbClr val="7F8C8D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29398" y="2591364"/>
            <a:ext cx="7277330" cy="209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59"/>
              </a:lnSpc>
            </a:pP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ontienen componentes o herramientas compartidas por varios dominios o microservicios de u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proyecto y no representan una funcionalidad.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9398" y="5458234"/>
            <a:ext cx="7551649" cy="63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9"/>
              </a:lnSpc>
            </a:pPr>
            <a:r>
              <a:rPr lang="en-US" b="true" sz="4499" spc="-112">
                <a:solidFill>
                  <a:srgbClr val="2F4F4F"/>
                </a:solidFill>
                <a:latin typeface="Garet Bold"/>
                <a:ea typeface="Garet Bold"/>
                <a:cs typeface="Garet Bold"/>
                <a:sym typeface="Garet Bold"/>
              </a:rPr>
              <a:t>Dominio vs Transversal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284250"/>
            <a:ext cx="15836827" cy="3590320"/>
            <a:chOff x="0" y="0"/>
            <a:chExt cx="19899048" cy="45112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99049" cy="4511254"/>
            </a:xfrm>
            <a:custGeom>
              <a:avLst/>
              <a:gdLst/>
              <a:ahLst/>
              <a:cxnLst/>
              <a:rect r="r" b="b" t="t" l="l"/>
              <a:pathLst>
                <a:path h="4511254" w="19899049">
                  <a:moveTo>
                    <a:pt x="0" y="232774"/>
                  </a:moveTo>
                  <a:cubicBezTo>
                    <a:pt x="0" y="104168"/>
                    <a:pt x="61344" y="0"/>
                    <a:pt x="137080" y="0"/>
                  </a:cubicBezTo>
                  <a:lnTo>
                    <a:pt x="19761969" y="0"/>
                  </a:lnTo>
                  <a:cubicBezTo>
                    <a:pt x="19837705" y="0"/>
                    <a:pt x="19899049" y="104168"/>
                    <a:pt x="19899049" y="232774"/>
                  </a:cubicBezTo>
                  <a:lnTo>
                    <a:pt x="19899049" y="4278480"/>
                  </a:lnTo>
                  <a:cubicBezTo>
                    <a:pt x="19899049" y="4407087"/>
                    <a:pt x="19837705" y="4511254"/>
                    <a:pt x="19761969" y="4511254"/>
                  </a:cubicBezTo>
                  <a:lnTo>
                    <a:pt x="137080" y="4511254"/>
                  </a:lnTo>
                  <a:cubicBezTo>
                    <a:pt x="61344" y="4511254"/>
                    <a:pt x="0" y="4407087"/>
                    <a:pt x="0" y="4278480"/>
                  </a:cubicBezTo>
                  <a:close/>
                </a:path>
              </a:pathLst>
            </a:custGeom>
            <a:solidFill>
              <a:srgbClr val="FEFEFE"/>
            </a:solidFill>
            <a:ln w="19050" cap="sq">
              <a:solidFill>
                <a:srgbClr val="7F8C8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56284" y="6361189"/>
            <a:ext cx="7277330" cy="156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59"/>
              </a:lnSpc>
            </a:pP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 repositorio de dominio tiene sus propias reglas y lenguaje, mientras que el transversal es infraestructura compartida.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33726" y="2591364"/>
            <a:ext cx="7277330" cy="209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59"/>
              </a:lnSpc>
            </a:pP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 función es proporcionar servicios técnicos, infraestructura o procesos que pueden ser utilizados por difere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ntes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partes del sistema.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60612" y="6361189"/>
            <a:ext cx="7277330" cy="165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1484" indent="-320742" lvl="1">
              <a:lnSpc>
                <a:spcPts val="4159"/>
              </a:lnSpc>
              <a:buFont typeface="Arial"/>
              <a:buChar char="•"/>
            </a:pPr>
            <a:r>
              <a:rPr lang="en-US" b="true" sz="2971">
                <a:solidFill>
                  <a:srgbClr val="7F8C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  <a:r>
              <a:rPr lang="en-US" b="true" sz="2971">
                <a:solidFill>
                  <a:srgbClr val="7F8C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ominio 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= qué hace el negocio.</a:t>
            </a:r>
          </a:p>
          <a:p>
            <a:pPr algn="just" marL="641484" indent="-320742" lvl="1">
              <a:lnSpc>
                <a:spcPts val="4159"/>
              </a:lnSpc>
              <a:buFont typeface="Arial"/>
              <a:buChar char="•"/>
            </a:pPr>
            <a:r>
              <a:rPr lang="en-US" b="true" sz="2971">
                <a:solidFill>
                  <a:srgbClr val="7F8C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Transversal 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= qué necesitan varios dominios para funcionar.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56284" y="8275839"/>
            <a:ext cx="15181658" cy="1280031"/>
            <a:chOff x="0" y="0"/>
            <a:chExt cx="19075826" cy="16083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75826" cy="1608366"/>
            </a:xfrm>
            <a:custGeom>
              <a:avLst/>
              <a:gdLst/>
              <a:ahLst/>
              <a:cxnLst/>
              <a:rect r="r" b="b" t="t" l="l"/>
              <a:pathLst>
                <a:path h="1608366" w="19075826">
                  <a:moveTo>
                    <a:pt x="0" y="82989"/>
                  </a:moveTo>
                  <a:cubicBezTo>
                    <a:pt x="0" y="37138"/>
                    <a:pt x="58806" y="0"/>
                    <a:pt x="131409" y="0"/>
                  </a:cubicBezTo>
                  <a:lnTo>
                    <a:pt x="18944417" y="0"/>
                  </a:lnTo>
                  <a:cubicBezTo>
                    <a:pt x="19017021" y="0"/>
                    <a:pt x="19075826" y="37138"/>
                    <a:pt x="19075826" y="82989"/>
                  </a:cubicBezTo>
                  <a:lnTo>
                    <a:pt x="19075826" y="1525376"/>
                  </a:lnTo>
                  <a:cubicBezTo>
                    <a:pt x="19075826" y="1571228"/>
                    <a:pt x="19017021" y="1608366"/>
                    <a:pt x="18944417" y="1608366"/>
                  </a:cubicBezTo>
                  <a:lnTo>
                    <a:pt x="131409" y="1608366"/>
                  </a:lnTo>
                  <a:cubicBezTo>
                    <a:pt x="58806" y="1608366"/>
                    <a:pt x="0" y="1571228"/>
                    <a:pt x="0" y="1525376"/>
                  </a:cubicBez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7F8C8D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632758" y="8338868"/>
            <a:ext cx="14628711" cy="1087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59"/>
              </a:lnSpc>
            </a:pPr>
            <a:r>
              <a:rPr lang="en-US" b="true" sz="2971">
                <a:solidFill>
                  <a:srgbClr val="7F8C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Por</a:t>
            </a:r>
            <a:r>
              <a:rPr lang="en-US" b="true" sz="2971">
                <a:solidFill>
                  <a:srgbClr val="7F8C8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ejemplo:</a:t>
            </a:r>
            <a:r>
              <a:rPr lang="en-US" sz="2971">
                <a:solidFill>
                  <a:srgbClr val="7F8C8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"registrar una venta" pertenece al dominio de Ventas. En cambio, "recibir y dirigir peticiones HTTP" es responsabilidad de un API Gateway.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524220" y="0"/>
            <a:ext cx="22854627" cy="12855727"/>
            <a:chOff x="0" y="0"/>
            <a:chExt cx="24361444" cy="137033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61394" cy="13703300"/>
            </a:xfrm>
            <a:custGeom>
              <a:avLst/>
              <a:gdLst/>
              <a:ahLst/>
              <a:cxnLst/>
              <a:rect r="r" b="b" t="t" l="l"/>
              <a:pathLst>
                <a:path h="13703300" w="24361394">
                  <a:moveTo>
                    <a:pt x="0" y="0"/>
                  </a:moveTo>
                  <a:lnTo>
                    <a:pt x="24361394" y="0"/>
                  </a:lnTo>
                  <a:lnTo>
                    <a:pt x="24361394" y="13703300"/>
                  </a:lnTo>
                  <a:lnTo>
                    <a:pt x="0" y="1370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64513" y="5253287"/>
            <a:ext cx="1008510" cy="919848"/>
            <a:chOff x="0" y="0"/>
            <a:chExt cx="897824" cy="8188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97824" cy="818893"/>
            </a:xfrm>
            <a:custGeom>
              <a:avLst/>
              <a:gdLst/>
              <a:ahLst/>
              <a:cxnLst/>
              <a:rect r="r" b="b" t="t" l="l"/>
              <a:pathLst>
                <a:path h="818893" w="897824">
                  <a:moveTo>
                    <a:pt x="448912" y="0"/>
                  </a:moveTo>
                  <a:cubicBezTo>
                    <a:pt x="200985" y="0"/>
                    <a:pt x="0" y="183316"/>
                    <a:pt x="0" y="409447"/>
                  </a:cubicBezTo>
                  <a:cubicBezTo>
                    <a:pt x="0" y="635578"/>
                    <a:pt x="200985" y="818893"/>
                    <a:pt x="448912" y="818893"/>
                  </a:cubicBezTo>
                  <a:cubicBezTo>
                    <a:pt x="696839" y="818893"/>
                    <a:pt x="897824" y="635578"/>
                    <a:pt x="897824" y="409447"/>
                  </a:cubicBezTo>
                  <a:cubicBezTo>
                    <a:pt x="897824" y="183316"/>
                    <a:pt x="696839" y="0"/>
                    <a:pt x="448912" y="0"/>
                  </a:cubicBezTo>
                  <a:close/>
                </a:path>
              </a:pathLst>
            </a:custGeom>
            <a:solidFill>
              <a:srgbClr val="18383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84171" y="19621"/>
              <a:ext cx="729482" cy="722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47675" y="3634740"/>
            <a:ext cx="6540538" cy="308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5"/>
              </a:lnSpc>
            </a:pPr>
            <a:r>
              <a:rPr lang="en-US" b="true" sz="7350" spc="-183">
                <a:solidFill>
                  <a:srgbClr val="2F4F4F"/>
                </a:solidFill>
                <a:latin typeface="Garet Bold"/>
                <a:ea typeface="Garet Bold"/>
                <a:cs typeface="Garet Bold"/>
                <a:sym typeface="Garet Bold"/>
              </a:rPr>
              <a:t>Los 4 Repositorios Transversales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25804" y="5245694"/>
            <a:ext cx="7954393" cy="1978552"/>
            <a:chOff x="0" y="0"/>
            <a:chExt cx="10605857" cy="263806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10605857" cy="637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b="true" sz="2687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Worker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99444"/>
              <a:ext cx="10605857" cy="1838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sz="2687">
                  <a:solidFill>
                    <a:srgbClr val="7F8C8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Procesa tareas en segundo plano, como notificaciones y reportes, garantizando una experiencia de usuario fluida y sin interrupciones.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64513" y="3058817"/>
            <a:ext cx="1008510" cy="919848"/>
            <a:chOff x="0" y="0"/>
            <a:chExt cx="897824" cy="8188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7824" cy="818893"/>
            </a:xfrm>
            <a:custGeom>
              <a:avLst/>
              <a:gdLst/>
              <a:ahLst/>
              <a:cxnLst/>
              <a:rect r="r" b="b" t="t" l="l"/>
              <a:pathLst>
                <a:path h="818893" w="897824">
                  <a:moveTo>
                    <a:pt x="448912" y="0"/>
                  </a:moveTo>
                  <a:cubicBezTo>
                    <a:pt x="200985" y="0"/>
                    <a:pt x="0" y="183316"/>
                    <a:pt x="0" y="409447"/>
                  </a:cubicBezTo>
                  <a:cubicBezTo>
                    <a:pt x="0" y="635578"/>
                    <a:pt x="200985" y="818893"/>
                    <a:pt x="448912" y="818893"/>
                  </a:cubicBezTo>
                  <a:cubicBezTo>
                    <a:pt x="696839" y="818893"/>
                    <a:pt x="897824" y="635578"/>
                    <a:pt x="897824" y="409447"/>
                  </a:cubicBezTo>
                  <a:cubicBezTo>
                    <a:pt x="897824" y="183316"/>
                    <a:pt x="696839" y="0"/>
                    <a:pt x="448912" y="0"/>
                  </a:cubicBezTo>
                  <a:close/>
                </a:path>
              </a:pathLst>
            </a:custGeom>
            <a:solidFill>
              <a:srgbClr val="1838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84171" y="19621"/>
              <a:ext cx="729482" cy="722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5804" y="3067117"/>
            <a:ext cx="7954393" cy="1978552"/>
            <a:chOff x="0" y="0"/>
            <a:chExt cx="10605857" cy="263806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10605857" cy="637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b="true" sz="2687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API Gateway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99444"/>
              <a:ext cx="10605857" cy="1838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sz="2687">
                  <a:solidFill>
                    <a:srgbClr val="7F8C8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 la p</a:t>
              </a:r>
              <a:r>
                <a:rPr lang="en-US" sz="2687">
                  <a:solidFill>
                    <a:srgbClr val="7F8C8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uerta de entrada al sistema. Recibe las peticiones del frontend y las dirige al microservicio correspondiente.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64513" y="884177"/>
            <a:ext cx="1008510" cy="919848"/>
            <a:chOff x="0" y="0"/>
            <a:chExt cx="897824" cy="8188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7824" cy="818893"/>
            </a:xfrm>
            <a:custGeom>
              <a:avLst/>
              <a:gdLst/>
              <a:ahLst/>
              <a:cxnLst/>
              <a:rect r="r" b="b" t="t" l="l"/>
              <a:pathLst>
                <a:path h="818893" w="897824">
                  <a:moveTo>
                    <a:pt x="448912" y="0"/>
                  </a:moveTo>
                  <a:cubicBezTo>
                    <a:pt x="200985" y="0"/>
                    <a:pt x="0" y="183316"/>
                    <a:pt x="0" y="409447"/>
                  </a:cubicBezTo>
                  <a:cubicBezTo>
                    <a:pt x="0" y="635578"/>
                    <a:pt x="200985" y="818893"/>
                    <a:pt x="448912" y="818893"/>
                  </a:cubicBezTo>
                  <a:cubicBezTo>
                    <a:pt x="696839" y="818893"/>
                    <a:pt x="897824" y="635578"/>
                    <a:pt x="897824" y="409447"/>
                  </a:cubicBezTo>
                  <a:cubicBezTo>
                    <a:pt x="897824" y="183316"/>
                    <a:pt x="696839" y="0"/>
                    <a:pt x="448912" y="0"/>
                  </a:cubicBezTo>
                  <a:close/>
                </a:path>
              </a:pathLst>
            </a:custGeom>
            <a:solidFill>
              <a:srgbClr val="18383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84171" y="19621"/>
              <a:ext cx="729482" cy="722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25804" y="892477"/>
            <a:ext cx="7954393" cy="1978552"/>
            <a:chOff x="0" y="0"/>
            <a:chExt cx="10605857" cy="263806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57150"/>
              <a:ext cx="10605857" cy="637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b="true" sz="2687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Infraestructura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799444"/>
              <a:ext cx="10605857" cy="1838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sz="2687">
                  <a:solidFill>
                    <a:srgbClr val="7F8C8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687">
                  <a:solidFill>
                    <a:srgbClr val="7F8C8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ontiene la configuración de infraestructura compartida, como la base de datos única, Docker, redes, variables de entorno, etc.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089185" y="1086929"/>
            <a:ext cx="559166" cy="49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678">
                <a:solidFill>
                  <a:srgbClr val="F5F5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89185" y="3263815"/>
            <a:ext cx="559166" cy="49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678">
                <a:solidFill>
                  <a:srgbClr val="F5F5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89185" y="5448663"/>
            <a:ext cx="559166" cy="49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678">
                <a:solidFill>
                  <a:srgbClr val="F5F5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864513" y="7424271"/>
            <a:ext cx="1008510" cy="919848"/>
            <a:chOff x="0" y="0"/>
            <a:chExt cx="897824" cy="8188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7824" cy="818893"/>
            </a:xfrm>
            <a:custGeom>
              <a:avLst/>
              <a:gdLst/>
              <a:ahLst/>
              <a:cxnLst/>
              <a:rect r="r" b="b" t="t" l="l"/>
              <a:pathLst>
                <a:path h="818893" w="897824">
                  <a:moveTo>
                    <a:pt x="448912" y="0"/>
                  </a:moveTo>
                  <a:cubicBezTo>
                    <a:pt x="200985" y="0"/>
                    <a:pt x="0" y="183316"/>
                    <a:pt x="0" y="409447"/>
                  </a:cubicBezTo>
                  <a:cubicBezTo>
                    <a:pt x="0" y="635578"/>
                    <a:pt x="200985" y="818893"/>
                    <a:pt x="448912" y="818893"/>
                  </a:cubicBezTo>
                  <a:cubicBezTo>
                    <a:pt x="696839" y="818893"/>
                    <a:pt x="897824" y="635578"/>
                    <a:pt x="897824" y="409447"/>
                  </a:cubicBezTo>
                  <a:cubicBezTo>
                    <a:pt x="897824" y="183316"/>
                    <a:pt x="696839" y="0"/>
                    <a:pt x="448912" y="0"/>
                  </a:cubicBezTo>
                  <a:close/>
                </a:path>
              </a:pathLst>
            </a:custGeom>
            <a:solidFill>
              <a:srgbClr val="18383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84171" y="19621"/>
              <a:ext cx="729482" cy="722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29383" y="7424271"/>
            <a:ext cx="7954393" cy="1978552"/>
            <a:chOff x="0" y="0"/>
            <a:chExt cx="10605857" cy="2638069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57150"/>
              <a:ext cx="10605857" cy="637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b="true" sz="2687">
                  <a:solidFill>
                    <a:srgbClr val="4A90E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Workflow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799444"/>
              <a:ext cx="10605857" cy="1838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762"/>
                </a:lnSpc>
              </a:pPr>
              <a:r>
                <a:rPr lang="en-US" sz="2687">
                  <a:solidFill>
                    <a:srgbClr val="7F8C8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687">
                  <a:solidFill>
                    <a:srgbClr val="7F8C8D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ontiene las herramientas y configuraciones para automatizar procesos. Ejemplo: CI/CD, pruebas, builds, despliegues y otras tareas repetitivas.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089185" y="7619646"/>
            <a:ext cx="559166" cy="498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678">
                <a:solidFill>
                  <a:srgbClr val="F5F5F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Repositorios Transversales</dc:description>
  <dc:identifier>DAHT0Tyg_oY</dc:identifier>
  <dcterms:modified xsi:type="dcterms:W3CDTF">2011-08-01T06:04:30Z</dcterms:modified>
  <cp:revision>1</cp:revision>
  <dc:title>Presentación - Repositorios Transversales</dc:title>
</cp:coreProperties>
</file>